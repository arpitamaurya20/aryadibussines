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6858000" type="screen4x3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0B1F3A"/>
      </a:solidFill>
      <a:effectLst/>
    </p:bgPr>
  </p:bg>
  <p:spTree>
    <p:nvGrpSpPr>
      <p:cNvPr id="1" name=""/>
      <p:cNvGrpSpPr/>
      <p:nvPr/>
    </p:nvGrpSpPr>
    <p:grpSpPr>
      <a:xfrm>
        <a:off x="0" y="0"/>
        <a:ext cx="0" cy="0"/>
        <a:chOff x="0" y="0"/>
        <a:chExt cx="0" cy="0"/>
      </a:xfrm>
    </p:grpSpPr>
    <p:sp>
      <p:nvSpPr>
        <p:cNvPr id="98" name="Bar"/>
        <p:cNvSpPr/>
        <p:nvPr/>
      </p:nvSpPr>
      <p:spPr>
        <a:xfrm>
          <a:off x="600000" y="1600000"/>
          <a:ext cx="7800000" cy="80000"/>
        </a:xfrm>
        <a:prstGeom prst="rect">
          <a:avLst/>
        </a:prstGeom>
        <a:solidFill>
          <a:srgbClr val="00897B"/>
        </a:solidFill>
        <a:ln>
          <a:noFill/>
        </a:ln>
      </p:spPr>
      <p:txBody>
        <a:bodyPr/>
        <a:lstStyle/>
        <a:p>
          <a:endParaRPr lang="en-US"/>
        </a:p>
      </p:txBody>
    </p:sp>
    <p:sp>
      <p:nvSpPr>
        <p:cNvPr id="3" name="TextBox 3"/>
        <p:cNvSpPr txBox="1"/>
        <p:nvPr/>
      </p:nvSpPr>
      <p:spPr>
        <a:xfrm>
          <a:off x="600000" y="1800000"/>
          <a:ext cx="7800000" cy="1200000"/>
        </a:xfrm>
        <a:prstGeom prst="rect">
          <a:avLst/>
        </a:prstGeom>
        <a:noFill/>
        <a:ln>
          <a:noFill/>
        </a:ln>
      </p:spPr>
      <p:txBody>
        <a:bodyPr wrap="square" rtlCol="0">
          <a:spAutoFit/>
        </a:bodyPr>
        <a:lstStyle/>
        <a:p>
          <a:pPr algn="ctr"/>
          <a:r>
            <a:rPr lang="en-US" sz="4400" dirty="0">
              <a:b/>
              <a:solidFill>
                <a:srgbClr val="FFFFFF"/>
              </a:solidFill>
              <a:latin typeface="Segoe UI"/>
            </a:rPr>
            <a:t>IoT Initiative for TechXpert FM Portal</a:t>
          </a:r>
          <a:endParaRPr lang="en-US" sz="4400"/>
        </a:p>
      </p:txBody>
    </p:sp>
    <p:sp>
      <p:nvSpPr>
        <p:cNvPr id="4" name="TextBox 4"/>
        <p:cNvSpPr txBox="1"/>
        <p:nvPr/>
      </p:nvSpPr>
      <p:spPr>
        <a:xfrm>
          <a:off x="900000" y="3000000"/>
          <a:ext cx="7200000" cy="800000"/>
        </a:xfrm>
        <a:prstGeom prst="rect">
          <a:avLst/>
        </a:prstGeom>
        <a:noFill/>
        <a:ln>
          <a:noFill/>
        </a:ln>
      </p:spPr>
      <p:txBody>
        <a:bodyPr wrap="square" rtlCol="0">
          <a:spAutoFit/>
        </a:bodyPr>
        <a:lstStyle/>
        <a:p>
          <a:pPr algn="ctr"/>
          <a:r>
            <a:rPr lang="en-US" sz="2400" dirty="0">
              <a:solidFill>
                <a:srgbClr val="4FC3F7"/>
              </a:solidFill>
              <a:latin typeface="Segoe UI"/>
            </a:rPr>
            <a:t>Data-Driven Facilities Management Transformation</a:t>
          </a:r>
          <a:endParaRPr lang="en-US" sz="2400"/>
        </a:p>
      </p:txBody>
    </p:sp>
    <p:sp>
      <p:nvSpPr>
        <p:cNvPr id="5" name="TextBox 5"/>
        <p:cNvSpPr txBox="1"/>
        <p:nvPr/>
      </p:nvSpPr>
      <p:spPr>
        <a:xfrm>
          <a:off x="600000" y="4200000"/>
          <a:ext cx="7800000" cy="900000"/>
        </a:xfrm>
        <a:prstGeom prst="rect">
          <a:avLst/>
        </a:prstGeom>
        <a:noFill/>
        <a:ln>
          <a:noFill/>
        </a:ln>
      </p:spPr>
      <p:txBody>
        <a:bodyPr wrap="square" rtlCol="0">
          <a:spAutoFit/>
        </a:bodyPr>
        <a:lstStyle/>
        <a:p>
          <a:pPr algn="ctr"/>
          <a:r>
            <a:rPr lang="en-US" sz="1600" dirty="0">
              <a:solidFill>
                <a:srgbClr val="B0BEC5"/>
              </a:solidFill>
              <a:latin typeface="Segoe UI"/>
            </a:rPr>
            <a:t>Tech Meeting | June 7, 2026</a:t>
          </a:r>
          <a:endParaRPr lang="en-US" sz="1600"/>
        </a:p>
        <a:p>
          <a:pPr algn="ctr"/>
          <a:r>
            <a:rPr lang="en-US" sz="1600" dirty="0">
              <a:solidFill>
                <a:srgbClr val="B0BEC5"/>
              </a:solidFill>
              <a:latin typeface="Segoe UI"/>
            </a:rPr>
            <a:t>Based on 58,434 corporate service tickets</a:t>
          </a:r>
          <a:endParaRPr lang="en-US" sz="1600"/>
        </a:p>
      </p:txBody>
    </p:sp>
  </p:spTree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0B1F3A"/>
      </a:solidFill>
      <a:effectLst/>
    </p:bgPr>
  </p:bg>
  <p:spTree>
    <p:nvGrpSpPr>
      <p:cNvPr id="1" name=""/>
      <p:cNvGrpSpPr/>
      <p:nvPr/>
    </p:nvGrpSpPr>
    <p:grpSpPr>
      <a:xfrm>
        <a:off x="0" y="0"/>
        <a:ext cx="0" cy="0"/>
        <a:chOff x="0" y="0"/>
        <a:chExt cx="0" cy="0"/>
      </a:xfrm>
    </p:grpSpPr>
    <p:sp>
      <p:nvSpPr>
        <p:cNvPr id="6" name="TextBox 6"/>
        <p:cNvSpPr txBox="1"/>
        <p:nvPr/>
      </p:nvSpPr>
      <p:spPr>
        <a:xfrm>
          <a:off x="400000" y="200000"/>
          <a:ext cx="8200000" cy="700000"/>
        </a:xfrm>
        <a:prstGeom prst="rect">
          <a:avLst/>
        </a:prstGeom>
        <a:noFill/>
        <a:ln>
          <a:noFill/>
        </a:ln>
      </p:spPr>
      <p:txBody>
        <a:bodyPr wrap="square" rtlCol="0">
          <a:spAutoFit/>
        </a:bodyPr>
        <a:lstStyle/>
        <a:p>
          <a:pPr algn="l"/>
          <a:r>
            <a:rPr lang="en-US" sz="3200" dirty="0">
              <a:b/>
              <a:solidFill>
                <a:srgbClr val="4FC3F7"/>
              </a:solidFill>
              <a:latin typeface="Segoe UI"/>
            </a:rPr>
            <a:t>Executive Summary</a:t>
          </a:r>
          <a:endParaRPr lang="en-US" sz="3200"/>
        </a:p>
      </p:txBody>
    </p:sp>
    <p:sp>
      <p:nvSpPr>
        <p:cNvPr id="7" name="TextBox 7"/>
        <p:cNvSpPr txBox="1"/>
        <p:nvPr/>
      </p:nvSpPr>
      <p:spPr>
        <a:xfrm>
          <a:off x="500000" y="1000000"/>
          <a:ext cx="8100000" cy="5400000"/>
        </a:xfrm>
        <a:prstGeom prst="rect">
          <a:avLst/>
        </a:prstGeom>
        <a:noFill/>
        <a:ln>
          <a:noFill/>
        </a:ln>
      </p:spPr>
      <p:txBody>
        <a:bodyPr wrap="square" rtlCol="0">
          <a:spAutoFit/>
        </a:bodyPr>
        <a:lstStyle/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Analyzed 58,434 tickets from TechXpert ERP (corporate_tickets table)</a:t>
          </a:r>
          <a:endParaRPr lang="en-US" sz="1700"/>
        </a:p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Highest ticket volume: Carpentry (19.9%) - mostly manual FM, limited IoT fit</a:t>
          </a:r>
          <a:endParaRPr lang="en-US" sz="1700"/>
        </a:p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IoT priority vertical: Electrical + Electrician (~23% tickets, 16,336 power/light issues in messages)</a:t>
          </a:r>
          <a:endParaRPr lang="en-US" sz="1700"/>
        </a:p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Top client segment: Urban Company (49.7% tickets) + JLL/CBRE FM accounts</a:t>
          </a:r>
          <a:endParaRPr lang="en-US" sz="1700"/>
        </a:p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Recommendation: Phased IoT for HVAC, Electrical, Plumbing integrated with ERP ticketing</a:t>
          </a:r>
          <a:endParaRPr lang="en-US" sz="1700"/>
        </a:p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Goal: Predictive maintenance - sensor alert creates ticket before user complaint</a:t>
          </a:r>
          <a:endParaRPr lang="en-US" sz="1700"/>
        </a:p>
      </p:txBody>
    </p:sp>
  </p:spTree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0B1F3A"/>
      </a:solidFill>
      <a:effectLst/>
    </p:bgPr>
  </p:bg>
  <p:spTree>
    <p:nvGrpSpPr>
      <p:cNvPr id="1" name=""/>
      <p:cNvGrpSpPr/>
      <p:nvPr/>
    </p:nvGrpSpPr>
    <p:grpSpPr>
      <a:xfrm>
        <a:off x="0" y="0"/>
        <a:ext cx="0" cy="0"/>
        <a:chOff x="0" y="0"/>
        <a:chExt cx="0" cy="0"/>
      </a:xfrm>
    </p:grpSpPr>
    <p:sp>
      <p:nvSpPr>
        <p:cNvPr id="8" name="TextBox 8"/>
        <p:cNvSpPr txBox="1"/>
        <p:nvPr/>
      </p:nvSpPr>
      <p:spPr>
        <a:xfrm>
          <a:off x="400000" y="200000"/>
          <a:ext cx="8200000" cy="700000"/>
        </a:xfrm>
        <a:prstGeom prst="rect">
          <a:avLst/>
        </a:prstGeom>
        <a:noFill/>
        <a:ln>
          <a:noFill/>
        </a:ln>
      </p:spPr>
      <p:txBody>
        <a:bodyPr wrap="square" rtlCol="0">
          <a:spAutoFit/>
        </a:bodyPr>
        <a:lstStyle/>
        <a:p>
          <a:pPr algn="l"/>
          <a:r>
            <a:rPr lang="en-US" sz="3200" dirty="0">
              <a:b/>
              <a:solidFill>
                <a:srgbClr val="4FC3F7"/>
              </a:solidFill>
              <a:latin typeface="Segoe UI"/>
            </a:rPr>
            <a:t>Which Vertical Generates Most Issues?</a:t>
          </a:r>
          <a:endParaRPr lang="en-US" sz="3200"/>
        </a:p>
      </p:txBody>
    </p:sp>
    <p:sp>
      <p:nvSpPr>
        <p:cNvPr id="9" name="TextBox 9"/>
        <p:cNvSpPr txBox="1"/>
        <p:nvPr/>
      </p:nvSpPr>
      <p:spPr>
        <a:xfrm>
          <a:off x="500000" y="1000000"/>
          <a:ext cx="8100000" cy="5400000"/>
        </a:xfrm>
        <a:prstGeom prst="rect">
          <a:avLst/>
        </a:prstGeom>
        <a:noFill/>
        <a:ln>
          <a:noFill/>
        </a:ln>
      </p:spPr>
      <p:txBody>
        <a:bodyPr wrap="square" rtlCol="0">
          <a:spAutoFit/>
        </a:bodyPr>
        <a:lstStyle/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FM Service Vertical - Ticket Volume Rankings:</a:t>
          </a:r>
          <a:endParaRPr lang="en-US" sz="1700"/>
        </a:p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1. Carpentry - 11,654 (19.9%)</a:t>
          </a:r>
          <a:endParaRPr lang="en-US" sz="1700"/>
        </a:p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2. Electrical - 9,370 (16%)</a:t>
          </a:r>
          <a:endParaRPr lang="en-US" sz="1700"/>
        </a:p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3. Painting - 4,581 (7.8%)</a:t>
          </a:r>
          <a:endParaRPr lang="en-US" sz="1700"/>
        </a:p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4. (Blank) - 4,306 (7.4%)</a:t>
          </a:r>
          <a:endParaRPr lang="en-US" sz="1700"/>
        </a:p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5. Electrician - 4,001 (6.8%)</a:t>
          </a:r>
          <a:endParaRPr lang="en-US" sz="1700"/>
        </a:p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6. Civil &amp; Interiors - 3,947 (6.8%)</a:t>
          </a:r>
          <a:endParaRPr lang="en-US" sz="1700"/>
        </a:p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7. OTHER - 2,447 (4.2%)</a:t>
          </a:r>
          <a:endParaRPr lang="en-US" sz="1700"/>
        </a:p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8. Supply - 2,208 (3.8%)</a:t>
          </a:r>
          <a:endParaRPr lang="en-US" sz="1700"/>
        </a:p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9. Plumbing - 2,034 (3.5%)</a:t>
          </a:r>
          <a:endParaRPr lang="en-US" sz="1700"/>
        </a:p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10. Facilities - Carpentry - 1,862 (3.2%)</a:t>
          </a:r>
          <a:endParaRPr lang="en-US" sz="1700"/>
        </a:p>
      </p:txBody>
    </p:sp>
  </p:spTree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0B1F3A"/>
      </a:solidFill>
      <a:effectLst/>
    </p:bgPr>
  </p:bg>
  <p:spTree>
    <p:nvGrpSpPr>
      <p:cNvPr id="1" name=""/>
      <p:cNvGrpSpPr/>
      <p:nvPr/>
    </p:nvGrpSpPr>
    <p:grpSpPr>
      <a:xfrm>
        <a:off x="0" y="0"/>
        <a:ext cx="0" cy="0"/>
        <a:chOff x="0" y="0"/>
        <a:chExt cx="0" cy="0"/>
      </a:xfrm>
    </p:grpSpPr>
    <p:sp>
      <p:nvSpPr>
        <p:cNvPr id="10" name="TextBox 10"/>
        <p:cNvSpPr txBox="1"/>
        <p:nvPr/>
      </p:nvSpPr>
      <p:spPr>
        <a:xfrm>
          <a:off x="400000" y="200000"/>
          <a:ext cx="8200000" cy="700000"/>
        </a:xfrm>
        <a:prstGeom prst="rect">
          <a:avLst/>
        </a:prstGeom>
        <a:noFill/>
        <a:ln>
          <a:noFill/>
        </a:ln>
      </p:spPr>
      <p:txBody>
        <a:bodyPr wrap="square" rtlCol="0">
          <a:spAutoFit/>
        </a:bodyPr>
        <a:lstStyle/>
        <a:p>
          <a:pPr algn="l"/>
          <a:r>
            <a:rPr lang="en-US" sz="3200" dirty="0">
              <a:b/>
              <a:solidFill>
                <a:srgbClr val="4FC3F7"/>
              </a:solidFill>
              <a:latin typeface="Segoe UI"/>
            </a:rPr>
            <a:t>Top Issue Types (Subservice Analysis)</a:t>
          </a:r>
          <a:endParaRPr lang="en-US" sz="3200"/>
        </a:p>
      </p:txBody>
    </p:sp>
    <p:sp>
      <p:nvSpPr>
        <p:cNvPr id="11" name="TextBox 11"/>
        <p:cNvSpPr txBox="1"/>
        <p:nvPr/>
      </p:nvSpPr>
      <p:spPr>
        <a:xfrm>
          <a:off x="500000" y="1000000"/>
          <a:ext cx="8100000" cy="5400000"/>
        </a:xfrm>
        <a:prstGeom prst="rect">
          <a:avLst/>
        </a:prstGeom>
        <a:noFill/>
        <a:ln>
          <a:noFill/>
        </a:ln>
      </p:spPr>
      <p:txBody>
        <a:bodyPr wrap="square" rtlCol="0">
          <a:spAutoFit/>
        </a:bodyPr>
        <a:lstStyle/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Top Sub-Services (Root Work Categories):</a:t>
          </a:r>
          <a:endParaRPr lang="en-US" sz="1700"/>
        </a:p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1. Others - 5,786</a:t>
          </a:r>
          <a:endParaRPr lang="en-US" sz="1700"/>
        </a:p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2. (Blank) - 5,310</a:t>
          </a:r>
          <a:endParaRPr lang="en-US" sz="1700"/>
        </a:p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3. Electrician Required - 2,619</a:t>
          </a:r>
          <a:endParaRPr lang="en-US" sz="1700"/>
        </a:p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4. Carpenter Required - 2,432</a:t>
          </a:r>
          <a:endParaRPr lang="en-US" sz="1700"/>
        </a:p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5. MEP - Consumables - 2,107</a:t>
          </a:r>
          <a:endParaRPr lang="en-US" sz="1700"/>
        </a:p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6. OTHER - 2,003</a:t>
          </a:r>
          <a:endParaRPr lang="en-US" sz="1700"/>
        </a:p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7. Book An Electrician - 1,746</a:t>
          </a:r>
          <a:endParaRPr lang="en-US" sz="1700"/>
        </a:p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8. Celling Lights Not Working - 1,699</a:t>
          </a:r>
          <a:endParaRPr lang="en-US" sz="1700"/>
        </a:p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9. Paint Required - 1,557</a:t>
          </a:r>
          <a:endParaRPr lang="en-US" sz="1700"/>
        </a:p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10. Carpenter visit - 1,525</a:t>
          </a:r>
          <a:endParaRPr lang="en-US" sz="1700"/>
        </a:p>
      </p:txBody>
    </p:sp>
  </p:spTree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0B1F3A"/>
      </a:solidFill>
      <a:effectLst/>
    </p:bgPr>
  </p:bg>
  <p:spTree>
    <p:nvGrpSpPr>
      <p:cNvPr id="1" name=""/>
      <p:cNvGrpSpPr/>
      <p:nvPr/>
    </p:nvGrpSpPr>
    <p:grpSpPr>
      <a:xfrm>
        <a:off x="0" y="0"/>
        <a:ext cx="0" cy="0"/>
        <a:chOff x="0" y="0"/>
        <a:chExt cx="0" cy="0"/>
      </a:xfrm>
    </p:grpSpPr>
    <p:sp>
      <p:nvSpPr>
        <p:cNvPr id="12" name="TextBox 12"/>
        <p:cNvSpPr txBox="1"/>
        <p:nvPr/>
      </p:nvSpPr>
      <p:spPr>
        <a:xfrm>
          <a:off x="400000" y="200000"/>
          <a:ext cx="8200000" cy="700000"/>
        </a:xfrm>
        <a:prstGeom prst="rect">
          <a:avLst/>
        </a:prstGeom>
        <a:noFill/>
        <a:ln>
          <a:noFill/>
        </a:ln>
      </p:spPr>
      <p:txBody>
        <a:bodyPr wrap="square" rtlCol="0">
          <a:spAutoFit/>
        </a:bodyPr>
        <a:lstStyle/>
        <a:p>
          <a:pPr algn="l"/>
          <a:r>
            <a:rPr lang="en-US" sz="3200" dirty="0">
              <a:b/>
              <a:solidFill>
                <a:srgbClr val="4FC3F7"/>
              </a:solidFill>
              <a:latin typeface="Segoe UI"/>
            </a:rPr>
            <a:t>Message-Based Issue Pattern Analysis</a:t>
          </a:r>
          <a:endParaRPr lang="en-US" sz="3200"/>
        </a:p>
      </p:txBody>
    </p:sp>
    <p:sp>
      <p:nvSpPr>
        <p:cNvPr id="13" name="TextBox 13"/>
        <p:cNvSpPr txBox="1"/>
        <p:nvPr/>
      </p:nvSpPr>
      <p:spPr>
        <a:xfrm>
          <a:off x="500000" y="1000000"/>
          <a:ext cx="8100000" cy="5400000"/>
        </a:xfrm>
        <a:prstGeom prst="rect">
          <a:avLst/>
        </a:prstGeom>
        <a:noFill/>
        <a:ln>
          <a:noFill/>
        </a:ln>
      </p:spPr>
      <p:txBody>
        <a:bodyPr wrap="square" rtlCol="0">
          <a:spAutoFit/>
        </a:bodyPr>
        <a:lstStyle/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Issue themes extracted from ticket Message field:</a:t>
          </a:r>
          <a:endParaRPr lang="en-US" sz="1700"/>
        </a:p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1. Civil / Carpentry - 27,282 ticket hits</a:t>
          </a:r>
          <a:endParaRPr lang="en-US" sz="1700"/>
        </a:p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2. Electrical / Power - 16,336 ticket hits</a:t>
          </a:r>
          <a:endParaRPr lang="en-US" sz="1700"/>
        </a:p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3. General / Other - 14,680 ticket hits</a:t>
          </a:r>
          <a:endParaRPr lang="en-US" sz="1700"/>
        </a:p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4. Plumbing / Leakage - 6,939 ticket hits</a:t>
          </a:r>
          <a:endParaRPr lang="en-US" sz="1700"/>
        </a:p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5. AC / Cooling Failure - 2,842 ticket hits</a:t>
          </a:r>
          <a:endParaRPr lang="en-US" sz="1700"/>
        </a:p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6. Network / IT Infra - 2,687 ticket hits</a:t>
          </a:r>
          <a:endParaRPr lang="en-US" sz="1700"/>
        </a:p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7. Pest / Hygiene - 1,499 ticket hits</a:t>
          </a:r>
          <a:endParaRPr lang="en-US" sz="1700"/>
        </a:p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8. CCTV / Security - 1,289 ticket hits</a:t>
          </a:r>
          <a:endParaRPr lang="en-US" sz="1700"/>
        </a:p>
      </p:txBody>
    </p:sp>
  </p:spTree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0B1F3A"/>
      </a:solidFill>
      <a:effectLst/>
    </p:bgPr>
  </p:bg>
  <p:spTree>
    <p:nvGrpSpPr>
      <p:cNvPr id="1" name=""/>
      <p:cNvGrpSpPr/>
      <p:nvPr/>
    </p:nvGrpSpPr>
    <p:grpSpPr>
      <a:xfrm>
        <a:off x="0" y="0"/>
        <a:ext cx="0" cy="0"/>
        <a:chOff x="0" y="0"/>
        <a:chExt cx="0" cy="0"/>
      </a:xfrm>
    </p:grpSpPr>
    <p:sp>
      <p:nvSpPr>
        <p:cNvPr id="14" name="TextBox 14"/>
        <p:cNvSpPr txBox="1"/>
        <p:nvPr/>
      </p:nvSpPr>
      <p:spPr>
        <a:xfrm>
          <a:off x="400000" y="200000"/>
          <a:ext cx="8200000" cy="700000"/>
        </a:xfrm>
        <a:prstGeom prst="rect">
          <a:avLst/>
        </a:prstGeom>
        <a:noFill/>
        <a:ln>
          <a:noFill/>
        </a:ln>
      </p:spPr>
      <p:txBody>
        <a:bodyPr wrap="square" rtlCol="0">
          <a:spAutoFit/>
        </a:bodyPr>
        <a:lstStyle/>
        <a:p>
          <a:pPr algn="l"/>
          <a:r>
            <a:rPr lang="en-US" sz="3200" dirty="0">
              <a:b/>
              <a:solidFill>
                <a:srgbClr val="4FC3F7"/>
              </a:solidFill>
              <a:latin typeface="Segoe UI"/>
            </a:rPr>
            <a:t>Industry Vertical Distribution</a:t>
          </a:r>
          <a:endParaRPr lang="en-US" sz="3200"/>
        </a:p>
      </p:txBody>
    </p:sp>
    <p:sp>
      <p:nvSpPr>
        <p:cNvPr id="15" name="TextBox 15"/>
        <p:cNvSpPr txBox="1"/>
        <p:nvPr/>
      </p:nvSpPr>
      <p:spPr>
        <a:xfrm>
          <a:off x="500000" y="1000000"/>
          <a:ext cx="8100000" cy="5400000"/>
        </a:xfrm>
        <a:prstGeom prst="rect">
          <a:avLst/>
        </a:prstGeom>
        <a:noFill/>
        <a:ln>
          <a:noFill/>
        </a:ln>
      </p:spPr>
      <p:txBody>
        <a:bodyPr wrap="square" rtlCol="0">
          <a:spAutoFit/>
        </a:bodyPr>
        <a:lstStyle/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Client Industry Segments (by corporate account):</a:t>
          </a:r>
          <a:endParaRPr lang="en-US" sz="1700"/>
        </a:p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1. Telecom &amp; Media - 29,335 (50.2%)</a:t>
          </a:r>
          <a:endParaRPr lang="en-US" sz="1700"/>
        </a:p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2. Corporate / Other - 9,784 (16.7%)</a:t>
          </a:r>
          <a:endParaRPr lang="en-US" sz="1700"/>
        </a:p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3. Real Estate &amp; FM - 9,459 (16.2%)</a:t>
          </a:r>
          <a:endParaRPr lang="en-US" sz="1700"/>
        </a:p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4. IT &amp; Technology - 6,993 (12%)</a:t>
          </a:r>
          <a:endParaRPr lang="en-US" sz="1700"/>
        </a:p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5. Banking &amp; Financial Services - 2,423 (4.1%)</a:t>
          </a:r>
          <a:endParaRPr lang="en-US" sz="1700"/>
        </a:p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6. Consulting &amp; Professional Services - 280 (0.5%)</a:t>
          </a:r>
          <a:endParaRPr lang="en-US" sz="1700"/>
        </a:p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7. Food &amp; Retail - 66 (0.1%)</a:t>
          </a:r>
          <a:endParaRPr lang="en-US" sz="1700"/>
        </a:p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8. Manufacturing &amp; Automotive - 49 (0.1%)</a:t>
          </a:r>
          <a:endParaRPr lang="en-US" sz="1700"/>
        </a:p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9. Healthcare &amp; Pharma - 36 (0.1%)</a:t>
          </a:r>
          <a:endParaRPr lang="en-US" sz="1700"/>
        </a:p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10. Government &amp; Embassy - 8 (0%)</a:t>
          </a:r>
          <a:endParaRPr lang="en-US" sz="1700"/>
        </a:p>
      </p:txBody>
    </p:sp>
  </p:spTree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0B1F3A"/>
      </a:solidFill>
      <a:effectLst/>
    </p:bgPr>
  </p:bg>
  <p:spTree>
    <p:nvGrpSpPr>
      <p:cNvPr id="1" name=""/>
      <p:cNvGrpSpPr/>
      <p:nvPr/>
    </p:nvGrpSpPr>
    <p:grpSpPr>
      <a:xfrm>
        <a:off x="0" y="0"/>
        <a:ext cx="0" cy="0"/>
        <a:chOff x="0" y="0"/>
        <a:chExt cx="0" cy="0"/>
      </a:xfrm>
    </p:grpSpPr>
    <p:sp>
      <p:nvSpPr>
        <p:cNvPr id="16" name="TextBox 16"/>
        <p:cNvSpPr txBox="1"/>
        <p:nvPr/>
      </p:nvSpPr>
      <p:spPr>
        <a:xfrm>
          <a:off x="400000" y="200000"/>
          <a:ext cx="8200000" cy="700000"/>
        </a:xfrm>
        <a:prstGeom prst="rect">
          <a:avLst/>
        </a:prstGeom>
        <a:noFill/>
        <a:ln>
          <a:noFill/>
        </a:ln>
      </p:spPr>
      <p:txBody>
        <a:bodyPr wrap="square" rtlCol="0">
          <a:spAutoFit/>
        </a:bodyPr>
        <a:lstStyle/>
        <a:p>
          <a:pPr algn="l"/>
          <a:r>
            <a:rPr lang="en-US" sz="3200" dirty="0">
              <a:b/>
              <a:solidFill>
                <a:srgbClr val="4FC3F7"/>
              </a:solidFill>
              <a:latin typeface="Segoe UI"/>
            </a:rPr>
            <a:t>Top Corporate Clients Driving Volume</a:t>
          </a:r>
          <a:endParaRPr lang="en-US" sz="3200"/>
        </a:p>
      </p:txBody>
    </p:sp>
    <p:sp>
      <p:nvSpPr>
        <p:cNvPr id="17" name="TextBox 17"/>
        <p:cNvSpPr txBox="1"/>
        <p:nvPr/>
      </p:nvSpPr>
      <p:spPr>
        <a:xfrm>
          <a:off x="500000" y="1000000"/>
          <a:ext cx="8100000" cy="5400000"/>
        </a:xfrm>
        <a:prstGeom prst="rect">
          <a:avLst/>
        </a:prstGeom>
        <a:noFill/>
        <a:ln>
          <a:noFill/>
        </a:ln>
      </p:spPr>
      <p:txBody>
        <a:bodyPr wrap="square" rtlCol="0">
          <a:spAutoFit/>
        </a:bodyPr>
        <a:lstStyle/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Highest ticket-generating client accounts:</a:t>
          </a:r>
          <a:endParaRPr lang="en-US" sz="1700"/>
        </a:p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- Urban Company [Telecom &amp; Media] - 29,032 (49.7%)</a:t>
          </a:r>
          <a:endParaRPr lang="en-US" sz="1700"/>
        </a:p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- TS - JONES LANG LASALLE PROPERTY CONSULTANTS (INDIA) PRIVATE LIMITED [Real Estate &amp; FM] - 5,497 (9.4%)</a:t>
          </a:r>
          <a:endParaRPr lang="en-US" sz="1700"/>
        </a:p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- Techxpert Facilities India Private Limited [IT &amp; Technology] - 3,512 (6%)</a:t>
          </a:r>
          <a:endParaRPr lang="en-US" sz="1700"/>
        </a:p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- F1 INFO SOLUTIONS AND SERVICES PVT.LTD [IT &amp; Technology] - 2,293 (3.9%)</a:t>
          </a:r>
          <a:endParaRPr lang="en-US" sz="1700"/>
        </a:p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- DMI Finance Private Limited [Banking &amp; Financial Services] - 1,895 (3.2%)</a:t>
          </a:r>
          <a:endParaRPr lang="en-US" sz="1700"/>
        </a:p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- SMARTWORK COWORKING SPACE PVT. LTD [Real Estate &amp; FM] - 1,215 (2.1%)</a:t>
          </a:r>
          <a:endParaRPr lang="en-US" sz="1700"/>
        </a:p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- Corporate #311 [Corporate / Other] - 1,098 (1.9%)</a:t>
          </a:r>
          <a:endParaRPr lang="en-US" sz="1700"/>
        </a:p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- IKEA INDIA PVT. LTD. [Corporate / Other] - 876 (1.5%)</a:t>
          </a:r>
          <a:endParaRPr lang="en-US" sz="1700"/>
        </a:p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- Walson-ICRA [Corporate / Other] - 710 (1.2%)</a:t>
          </a:r>
          <a:endParaRPr lang="en-US" sz="1700"/>
        </a:p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- SKOOTR GLOBAL PRIVATE LIMITED [IT &amp; Technology] - 650 (1.1%)</a:t>
          </a:r>
          <a:endParaRPr lang="en-US" sz="1700"/>
        </a:p>
      </p:txBody>
    </p:sp>
  </p:spTree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0B1F3A"/>
      </a:solidFill>
      <a:effectLst/>
    </p:bgPr>
  </p:bg>
  <p:spTree>
    <p:nvGrpSpPr>
      <p:cNvPr id="1" name=""/>
      <p:cNvGrpSpPr/>
      <p:nvPr/>
    </p:nvGrpSpPr>
    <p:grpSpPr>
      <a:xfrm>
        <a:off x="0" y="0"/>
        <a:ext cx="0" cy="0"/>
        <a:chOff x="0" y="0"/>
        <a:chExt cx="0" cy="0"/>
      </a:xfrm>
    </p:grpSpPr>
    <p:sp>
      <p:nvSpPr>
        <p:cNvPr id="18" name="TextBox 18"/>
        <p:cNvSpPr txBox="1"/>
        <p:nvPr/>
      </p:nvSpPr>
      <p:spPr>
        <a:xfrm>
          <a:off x="400000" y="200000"/>
          <a:ext cx="8200000" cy="700000"/>
        </a:xfrm>
        <a:prstGeom prst="rect">
          <a:avLst/>
        </a:prstGeom>
        <a:noFill/>
        <a:ln>
          <a:noFill/>
        </a:ln>
      </p:spPr>
      <p:txBody>
        <a:bodyPr wrap="square" rtlCol="0">
          <a:spAutoFit/>
        </a:bodyPr>
        <a:lstStyle/>
        <a:p>
          <a:pPr algn="l"/>
          <a:r>
            <a:rPr lang="en-US" sz="3200" dirty="0">
              <a:b/>
              <a:solidFill>
                <a:srgbClr val="4FC3F7"/>
              </a:solidFill>
              <a:latin typeface="Segoe UI"/>
            </a:rPr>
            <a:t>IoT Focus Vertical: Electrical / MEP</a:t>
          </a:r>
          <a:endParaRPr lang="en-US" sz="3200"/>
        </a:p>
      </p:txBody>
    </p:sp>
    <p:sp>
      <p:nvSpPr>
        <p:cNvPr id="19" name="TextBox 19"/>
        <p:cNvSpPr txBox="1"/>
        <p:nvPr/>
      </p:nvSpPr>
      <p:spPr>
        <a:xfrm>
          <a:off x="500000" y="1000000"/>
          <a:ext cx="8100000" cy="5400000"/>
        </a:xfrm>
        <a:prstGeom prst="rect">
          <a:avLst/>
        </a:prstGeom>
        <a:noFill/>
        <a:ln>
          <a:noFill/>
        </a:ln>
      </p:spPr>
      <p:txBody>
        <a:bodyPr wrap="square" rtlCol="0">
          <a:spAutoFit/>
        </a:bodyPr>
        <a:lstStyle/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Electrical service: 9,370 tickets (16%) + Electrician: 4,001 (6.8%) = ~13,371 tickets</a:t>
          </a:r>
          <a:endParaRPr lang="en-US" sz="1700"/>
        </a:p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Message analysis: 16,336 Electrical/Power issues - lights, MCB trip, socket, wiring</a:t>
          </a:r>
          <a:endParaRPr lang="en-US" sz="1700"/>
        </a:p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Top sub-issues: Celling Lights Not Working (1,699), Electrician Required (2,619)</a:t>
          </a:r>
          <a:endParaRPr lang="en-US" sz="1700"/>
        </a:p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Reactive model today: user reports failure -&gt; technician visit -&gt; business downtime</a:t>
          </a:r>
          <a:endParaRPr lang="en-US" sz="1700"/>
        </a:p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IoT stack: Smart energy meters, branch circuit monitoring, light circuit health sensors</a:t>
          </a:r>
          <a:endParaRPr lang="en-US" sz="1700"/>
        </a:p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ERP mapping: Service=Electrical, Subservice auto-set, BranchAssetID linked to meter/sensor</a:t>
          </a:r>
          <a:endParaRPr lang="en-US" sz="1700"/>
        </a:p>
      </p:txBody>
    </p:sp>
  </p:spTree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0B1F3A"/>
      </a:solidFill>
      <a:effectLst/>
    </p:bgPr>
  </p:bg>
  <p:spTree>
    <p:nvGrpSpPr>
      <p:cNvPr id="1" name=""/>
      <p:cNvGrpSpPr/>
      <p:nvPr/>
    </p:nvGrpSpPr>
    <p:grpSpPr>
      <a:xfrm>
        <a:off x="0" y="0"/>
        <a:ext cx="0" cy="0"/>
        <a:chOff x="0" y="0"/>
        <a:chExt cx="0" cy="0"/>
      </a:xfrm>
    </p:grpSpPr>
    <p:sp>
      <p:nvSpPr>
        <p:cNvPr id="20" name="TextBox 20"/>
        <p:cNvSpPr txBox="1"/>
        <p:nvPr/>
      </p:nvSpPr>
      <p:spPr>
        <a:xfrm>
          <a:off x="400000" y="200000"/>
          <a:ext cx="8200000" cy="700000"/>
        </a:xfrm>
        <a:prstGeom prst="rect">
          <a:avLst/>
        </a:prstGeom>
        <a:noFill/>
        <a:ln>
          <a:noFill/>
        </a:ln>
      </p:spPr>
      <p:txBody>
        <a:bodyPr wrap="square" rtlCol="0">
          <a:spAutoFit/>
        </a:bodyPr>
        <a:lstStyle/>
        <a:p>
          <a:pPr algn="l"/>
          <a:r>
            <a:rPr lang="en-US" sz="3200" dirty="0">
              <a:b/>
              <a:solidFill>
                <a:srgbClr val="4FC3F7"/>
              </a:solidFill>
              <a:latin typeface="Segoe UI"/>
            </a:rPr>
            <a:t>Sample Issues from Ticket Messages</a:t>
          </a:r>
          <a:endParaRPr lang="en-US" sz="3200"/>
        </a:p>
      </p:txBody>
    </p:sp>
    <p:sp>
      <p:nvSpPr>
        <p:cNvPr id="21" name="TextBox 21"/>
        <p:cNvSpPr txBox="1"/>
        <p:nvPr/>
      </p:nvSpPr>
      <p:spPr>
        <a:xfrm>
          <a:off x="500000" y="1000000"/>
          <a:ext cx="8100000" cy="5400000"/>
        </a:xfrm>
        <a:prstGeom prst="rect">
          <a:avLst/>
        </a:prstGeom>
        <a:noFill/>
        <a:ln>
          <a:noFill/>
        </a:ln>
      </p:spPr>
      <p:txBody>
        <a:bodyPr wrap="square" rtlCol="0">
          <a:spAutoFit/>
        </a:bodyPr>
        <a:lstStyle/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Real ticket messages driving IoT design:</a:t>
          </a:r>
          <a:endParaRPr lang="en-US" sz="1700"/>
        </a:p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- [`Subservice`] `Message`</a:t>
          </a:r>
          <a:endParaRPr lang="en-US" sz="1700"/>
        </a:p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- [Festive Lights Installation] 1phase Only Working</a:t>
          </a:r>
          <a:endParaRPr lang="en-US" sz="1700"/>
        </a:p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- [Festive Lights Installation] Ceiling Light Not Working</a:t>
          </a:r>
          <a:endParaRPr lang="en-US" sz="1700"/>
        </a:p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- [Festive Lights Installation] Power Issue</a:t>
          </a:r>
          <a:endParaRPr lang="en-US" sz="1700"/>
        </a:p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- [Table / Chair Wheels Fitting] CHAIR REPAIR</a:t>
          </a:r>
          <a:endParaRPr lang="en-US" sz="1700"/>
        </a:p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- [Waste Pipe Leakage] 3rd floor cabin to 2nd floor water leakage</a:t>
          </a:r>
          <a:endParaRPr lang="en-US" sz="1700"/>
        </a:p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- [Festive Lights Installation] 22 Lights Not Working</a:t>
          </a:r>
          <a:endParaRPr lang="en-US" sz="1700"/>
        </a:p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- [OTHER] Rat Is Dead On The Pop  Near Entrance, It Is Smelling Very Badly</a:t>
          </a:r>
          <a:endParaRPr lang="en-US" sz="1700"/>
        </a:p>
      </p:txBody>
    </p:sp>
  </p:spTree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0B1F3A"/>
      </a:solidFill>
      <a:effectLst/>
    </p:bgPr>
  </p:bg>
  <p:spTree>
    <p:nvGrpSpPr>
      <p:cNvPr id="1" name=""/>
      <p:cNvGrpSpPr/>
      <p:nvPr/>
    </p:nvGrpSpPr>
    <p:grpSpPr>
      <a:xfrm>
        <a:off x="0" y="0"/>
        <a:ext cx="0" cy="0"/>
        <a:chOff x="0" y="0"/>
        <a:chExt cx="0" cy="0"/>
      </a:xfrm>
    </p:grpSpPr>
    <p:sp>
      <p:nvSpPr>
        <p:cNvPr id="22" name="TextBox 22"/>
        <p:cNvSpPr txBox="1"/>
        <p:nvPr/>
      </p:nvSpPr>
      <p:spPr>
        <a:xfrm>
          <a:off x="400000" y="200000"/>
          <a:ext cx="8200000" cy="700000"/>
        </a:xfrm>
        <a:prstGeom prst="rect">
          <a:avLst/>
        </a:prstGeom>
        <a:noFill/>
        <a:ln>
          <a:noFill/>
        </a:ln>
      </p:spPr>
      <p:txBody>
        <a:bodyPr wrap="square" rtlCol="0">
          <a:spAutoFit/>
        </a:bodyPr>
        <a:lstStyle/>
        <a:p>
          <a:pPr algn="l"/>
          <a:r>
            <a:rPr lang="en-US" sz="3200" dirty="0">
              <a:b/>
              <a:solidFill>
                <a:srgbClr val="4FC3F7"/>
              </a:solidFill>
              <a:latin typeface="Segoe UI"/>
            </a:rPr>
            <a:t>IoT Solution: Carpentry</a:t>
          </a:r>
          <a:endParaRPr lang="en-US" sz="3200"/>
        </a:p>
      </p:txBody>
    </p:sp>
    <p:sp>
      <p:nvSpPr>
        <p:cNvPr id="23" name="TextBox 23"/>
        <p:cNvSpPr txBox="1"/>
        <p:nvPr/>
      </p:nvSpPr>
      <p:spPr>
        <a:xfrm>
          <a:off x="500000" y="1000000"/>
          <a:ext cx="8100000" cy="5400000"/>
        </a:xfrm>
        <a:prstGeom prst="rect">
          <a:avLst/>
        </a:prstGeom>
        <a:noFill/>
        <a:ln>
          <a:noFill/>
        </a:ln>
      </p:spPr>
      <p:txBody>
        <a:bodyPr wrap="square" rtlCol="0">
          <a:spAutoFit/>
        </a:bodyPr>
        <a:lstStyle/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Volume: 11,654 tickets (19.9%)</a:t>
          </a:r>
          <a:endParaRPr lang="en-US" sz="1700"/>
        </a:p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-&gt; Smart HVAC IoT Sensors + BMS Gateway</a:t>
          </a:r>
          <a:endParaRPr lang="en-US" sz="1700"/>
        </a:p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   Sensors: Supply/Return temp, humidity, CO2, filter pressure, compressor runtime</a:t>
          </a:r>
          <a:endParaRPr lang="en-US" sz="1700"/>
        </a:p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   ERP: MQTT/Modbus to TechXpert ERP; predictive PM alerts</a:t>
          </a:r>
          <a:endParaRPr lang="en-US" sz="1700"/>
        </a:p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   Benefit: 30-40% reduction in breakdown tickets; auto ticket before user complaint</a:t>
          </a:r>
          <a:endParaRPr lang="en-US" sz="1700"/>
        </a:p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-&gt; Smart Energy &amp; Power Quality Monitoring</a:t>
          </a:r>
          <a:endParaRPr lang="en-US" sz="1700"/>
        </a:p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   Sensors: Smart MCB/energy meters, voltage/current sensors, circuit branch monitoring</a:t>
          </a:r>
          <a:endParaRPr lang="en-US" sz="1700"/>
        </a:p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   ERP: Real-time load dashboard; trip/root-cause alerts to ERP ticket</a:t>
          </a:r>
          <a:endParaRPr lang="en-US" sz="1700"/>
        </a:p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   Benefit: Prevent outages; optimize energy; reduce electrician reactive calls</a:t>
          </a:r>
          <a:endParaRPr lang="en-US" sz="1700"/>
        </a:p>
      </p:txBody>
    </p:sp>
  </p:spTree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0B1F3A"/>
      </a:solidFill>
      <a:effectLst/>
    </p:bgPr>
  </p:bg>
  <p:spTree>
    <p:nvGrpSpPr>
      <p:cNvPr id="1" name=""/>
      <p:cNvGrpSpPr/>
      <p:nvPr/>
    </p:nvGrpSpPr>
    <p:grpSpPr>
      <a:xfrm>
        <a:off x="0" y="0"/>
        <a:ext cx="0" cy="0"/>
        <a:chOff x="0" y="0"/>
        <a:chExt cx="0" cy="0"/>
      </a:xfrm>
    </p:grpSpPr>
    <p:sp>
      <p:nvSpPr>
        <p:cNvPr id="24" name="TextBox 24"/>
        <p:cNvSpPr txBox="1"/>
        <p:nvPr/>
      </p:nvSpPr>
      <p:spPr>
        <a:xfrm>
          <a:off x="400000" y="200000"/>
          <a:ext cx="8200000" cy="700000"/>
        </a:xfrm>
        <a:prstGeom prst="rect">
          <a:avLst/>
        </a:prstGeom>
        <a:noFill/>
        <a:ln>
          <a:noFill/>
        </a:ln>
      </p:spPr>
      <p:txBody>
        <a:bodyPr wrap="square" rtlCol="0">
          <a:spAutoFit/>
        </a:bodyPr>
        <a:lstStyle/>
        <a:p>
          <a:pPr algn="l"/>
          <a:r>
            <a:rPr lang="en-US" sz="3200" dirty="0">
              <a:b/>
              <a:solidFill>
                <a:srgbClr val="4FC3F7"/>
              </a:solidFill>
              <a:latin typeface="Segoe UI"/>
            </a:rPr>
            <a:t>IoT Solution: Electrical</a:t>
          </a:r>
          <a:endParaRPr lang="en-US" sz="3200"/>
        </a:p>
      </p:txBody>
    </p:sp>
    <p:sp>
      <p:nvSpPr>
        <p:cNvPr id="25" name="TextBox 25"/>
        <p:cNvSpPr txBox="1"/>
        <p:nvPr/>
      </p:nvSpPr>
      <p:spPr>
        <a:xfrm>
          <a:off x="500000" y="1000000"/>
          <a:ext cx="8100000" cy="5400000"/>
        </a:xfrm>
        <a:prstGeom prst="rect">
          <a:avLst/>
        </a:prstGeom>
        <a:noFill/>
        <a:ln>
          <a:noFill/>
        </a:ln>
      </p:spPr>
      <p:txBody>
        <a:bodyPr wrap="square" rtlCol="0">
          <a:spAutoFit/>
        </a:bodyPr>
        <a:lstStyle/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Volume: 9,370 tickets (16%)</a:t>
          </a:r>
          <a:endParaRPr lang="en-US" sz="1700"/>
        </a:p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-&gt; Smart HVAC IoT Sensors + BMS Gateway</a:t>
          </a:r>
          <a:endParaRPr lang="en-US" sz="1700"/>
        </a:p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   Sensors: Supply/Return temp, humidity, CO2, filter pressure, compressor runtime</a:t>
          </a:r>
          <a:endParaRPr lang="en-US" sz="1700"/>
        </a:p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   ERP: MQTT/Modbus to TechXpert ERP; predictive PM alerts</a:t>
          </a:r>
          <a:endParaRPr lang="en-US" sz="1700"/>
        </a:p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   Benefit: 30-40% reduction in breakdown tickets; auto ticket before user complaint</a:t>
          </a:r>
          <a:endParaRPr lang="en-US" sz="1700"/>
        </a:p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-&gt; Smart Energy &amp; Power Quality Monitoring</a:t>
          </a:r>
          <a:endParaRPr lang="en-US" sz="1700"/>
        </a:p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   Sensors: Smart MCB/energy meters, voltage/current sensors, circuit branch monitoring</a:t>
          </a:r>
          <a:endParaRPr lang="en-US" sz="1700"/>
        </a:p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   ERP: Real-time load dashboard; trip/root-cause alerts to ERP ticket</a:t>
          </a:r>
          <a:endParaRPr lang="en-US" sz="1700"/>
        </a:p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   Benefit: Prevent outages; optimize energy; reduce electrician reactive calls</a:t>
          </a:r>
          <a:endParaRPr lang="en-US" sz="1700"/>
        </a:p>
      </p:txBody>
    </p:sp>
  </p:spTree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0B1F3A"/>
      </a:solidFill>
      <a:effectLst/>
    </p:bgPr>
  </p:bg>
  <p:spTree>
    <p:nvGrpSpPr>
      <p:cNvPr id="1" name=""/>
      <p:cNvGrpSpPr/>
      <p:nvPr/>
    </p:nvGrpSpPr>
    <p:grpSpPr>
      <a:xfrm>
        <a:off x="0" y="0"/>
        <a:ext cx="0" cy="0"/>
        <a:chOff x="0" y="0"/>
        <a:chExt cx="0" cy="0"/>
      </a:xfrm>
    </p:grpSpPr>
    <p:sp>
      <p:nvSpPr>
        <p:cNvPr id="26" name="TextBox 26"/>
        <p:cNvSpPr txBox="1"/>
        <p:nvPr/>
      </p:nvSpPr>
      <p:spPr>
        <a:xfrm>
          <a:off x="400000" y="200000"/>
          <a:ext cx="8200000" cy="700000"/>
        </a:xfrm>
        <a:prstGeom prst="rect">
          <a:avLst/>
        </a:prstGeom>
        <a:noFill/>
        <a:ln>
          <a:noFill/>
        </a:ln>
      </p:spPr>
      <p:txBody>
        <a:bodyPr wrap="square" rtlCol="0">
          <a:spAutoFit/>
        </a:bodyPr>
        <a:lstStyle/>
        <a:p>
          <a:pPr algn="l"/>
          <a:r>
            <a:rPr lang="en-US" sz="3200" dirty="0">
              <a:b/>
              <a:solidFill>
                <a:srgbClr val="4FC3F7"/>
              </a:solidFill>
              <a:latin typeface="Segoe UI"/>
            </a:rPr>
            <a:t>IoT Solution: Painting</a:t>
          </a:r>
          <a:endParaRPr lang="en-US" sz="3200"/>
        </a:p>
      </p:txBody>
    </p:sp>
    <p:sp>
      <p:nvSpPr>
        <p:cNvPr id="27" name="TextBox 27"/>
        <p:cNvSpPr txBox="1"/>
        <p:nvPr/>
      </p:nvSpPr>
      <p:spPr>
        <a:xfrm>
          <a:off x="500000" y="1000000"/>
          <a:ext cx="8100000" cy="5400000"/>
        </a:xfrm>
        <a:prstGeom prst="rect">
          <a:avLst/>
        </a:prstGeom>
        <a:noFill/>
        <a:ln>
          <a:noFill/>
        </a:ln>
      </p:spPr>
      <p:txBody>
        <a:bodyPr wrap="square" rtlCol="0">
          <a:spAutoFit/>
        </a:bodyPr>
        <a:lstStyle/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Volume: 4,581 tickets (7.8%)</a:t>
          </a:r>
          <a:endParaRPr lang="en-US" sz="1700"/>
        </a:p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-&gt; Smart HVAC IoT Sensors + BMS Gateway</a:t>
          </a:r>
          <a:endParaRPr lang="en-US" sz="1700"/>
        </a:p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   Sensors: Supply/Return temp, humidity, CO2, filter pressure, compressor runtime</a:t>
          </a:r>
          <a:endParaRPr lang="en-US" sz="1700"/>
        </a:p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   ERP: MQTT/Modbus to TechXpert ERP; predictive PM alerts</a:t>
          </a:r>
          <a:endParaRPr lang="en-US" sz="1700"/>
        </a:p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   Benefit: 30-40% reduction in breakdown tickets; auto ticket before user complaint</a:t>
          </a:r>
          <a:endParaRPr lang="en-US" sz="1700"/>
        </a:p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-&gt; Smart Energy &amp; Power Quality Monitoring</a:t>
          </a:r>
          <a:endParaRPr lang="en-US" sz="1700"/>
        </a:p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   Sensors: Smart MCB/energy meters, voltage/current sensors, circuit branch monitoring</a:t>
          </a:r>
          <a:endParaRPr lang="en-US" sz="1700"/>
        </a:p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   ERP: Real-time load dashboard; trip/root-cause alerts to ERP ticket</a:t>
          </a:r>
          <a:endParaRPr lang="en-US" sz="1700"/>
        </a:p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   Benefit: Prevent outages; optimize energy; reduce electrician reactive calls</a:t>
          </a:r>
          <a:endParaRPr lang="en-US" sz="1700"/>
        </a:p>
      </p:txBody>
    </p:sp>
  </p:spTree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0B1F3A"/>
      </a:solidFill>
      <a:effectLst/>
    </p:bgPr>
  </p:bg>
  <p:spTree>
    <p:nvGrpSpPr>
      <p:cNvPr id="1" name=""/>
      <p:cNvGrpSpPr/>
      <p:nvPr/>
    </p:nvGrpSpPr>
    <p:grpSpPr>
      <a:xfrm>
        <a:off x="0" y="0"/>
        <a:ext cx="0" cy="0"/>
        <a:chOff x="0" y="0"/>
        <a:chExt cx="0" cy="0"/>
      </a:xfrm>
    </p:grpSpPr>
    <p:sp>
      <p:nvSpPr>
        <p:cNvPr id="28" name="TextBox 28"/>
        <p:cNvSpPr txBox="1"/>
        <p:nvPr/>
      </p:nvSpPr>
      <p:spPr>
        <a:xfrm>
          <a:off x="400000" y="200000"/>
          <a:ext cx="8200000" cy="700000"/>
        </a:xfrm>
        <a:prstGeom prst="rect">
          <a:avLst/>
        </a:prstGeom>
        <a:noFill/>
        <a:ln>
          <a:noFill/>
        </a:ln>
      </p:spPr>
      <p:txBody>
        <a:bodyPr wrap="square" rtlCol="0">
          <a:spAutoFit/>
        </a:bodyPr>
        <a:lstStyle/>
        <a:p>
          <a:pPr algn="l"/>
          <a:r>
            <a:rPr lang="en-US" sz="3200" dirty="0">
              <a:b/>
              <a:solidFill>
                <a:srgbClr val="4FC3F7"/>
              </a:solidFill>
              <a:latin typeface="Segoe UI"/>
            </a:rPr>
            <a:t>IoT Solution: (Blank)</a:t>
          </a:r>
          <a:endParaRPr lang="en-US" sz="3200"/>
        </a:p>
      </p:txBody>
    </p:sp>
    <p:sp>
      <p:nvSpPr>
        <p:cNvPr id="29" name="TextBox 29"/>
        <p:cNvSpPr txBox="1"/>
        <p:nvPr/>
      </p:nvSpPr>
      <p:spPr>
        <a:xfrm>
          <a:off x="500000" y="1000000"/>
          <a:ext cx="8100000" cy="5400000"/>
        </a:xfrm>
        <a:prstGeom prst="rect">
          <a:avLst/>
        </a:prstGeom>
        <a:noFill/>
        <a:ln>
          <a:noFill/>
        </a:ln>
      </p:spPr>
      <p:txBody>
        <a:bodyPr wrap="square" rtlCol="0">
          <a:spAutoFit/>
        </a:bodyPr>
        <a:lstStyle/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Volume: 4,306 tickets (7.4%)</a:t>
          </a:r>
          <a:endParaRPr lang="en-US" sz="1700"/>
        </a:p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-&gt; Smart HVAC IoT Sensors + BMS Gateway</a:t>
          </a:r>
          <a:endParaRPr lang="en-US" sz="1700"/>
        </a:p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   Sensors: Supply/Return temp, humidity, CO2, filter pressure, compressor runtime</a:t>
          </a:r>
          <a:endParaRPr lang="en-US" sz="1700"/>
        </a:p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   ERP: MQTT/Modbus to TechXpert ERP; predictive PM alerts</a:t>
          </a:r>
          <a:endParaRPr lang="en-US" sz="1700"/>
        </a:p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   Benefit: 30-40% reduction in breakdown tickets; auto ticket before user complaint</a:t>
          </a:r>
          <a:endParaRPr lang="en-US" sz="1700"/>
        </a:p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-&gt; Smart Energy &amp; Power Quality Monitoring</a:t>
          </a:r>
          <a:endParaRPr lang="en-US" sz="1700"/>
        </a:p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   Sensors: Smart MCB/energy meters, voltage/current sensors, circuit branch monitoring</a:t>
          </a:r>
          <a:endParaRPr lang="en-US" sz="1700"/>
        </a:p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   ERP: Real-time load dashboard; trip/root-cause alerts to ERP ticket</a:t>
          </a:r>
          <a:endParaRPr lang="en-US" sz="1700"/>
        </a:p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   Benefit: Prevent outages; optimize energy; reduce electrician reactive calls</a:t>
          </a:r>
          <a:endParaRPr lang="en-US" sz="1700"/>
        </a:p>
      </p:txBody>
    </p:sp>
  </p:spTree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0B1F3A"/>
      </a:solidFill>
      <a:effectLst/>
    </p:bgPr>
  </p:bg>
  <p:spTree>
    <p:nvGrpSpPr>
      <p:cNvPr id="1" name=""/>
      <p:cNvGrpSpPr/>
      <p:nvPr/>
    </p:nvGrpSpPr>
    <p:grpSpPr>
      <a:xfrm>
        <a:off x="0" y="0"/>
        <a:ext cx="0" cy="0"/>
        <a:chOff x="0" y="0"/>
        <a:chExt cx="0" cy="0"/>
      </a:xfrm>
    </p:grpSpPr>
    <p:sp>
      <p:nvSpPr>
        <p:cNvPr id="30" name="TextBox 30"/>
        <p:cNvSpPr txBox="1"/>
        <p:nvPr/>
      </p:nvSpPr>
      <p:spPr>
        <a:xfrm>
          <a:off x="400000" y="200000"/>
          <a:ext cx="8200000" cy="700000"/>
        </a:xfrm>
        <a:prstGeom prst="rect">
          <a:avLst/>
        </a:prstGeom>
        <a:noFill/>
        <a:ln>
          <a:noFill/>
        </a:ln>
      </p:spPr>
      <p:txBody>
        <a:bodyPr wrap="square" rtlCol="0">
          <a:spAutoFit/>
        </a:bodyPr>
        <a:lstStyle/>
        <a:p>
          <a:pPr algn="l"/>
          <a:r>
            <a:rPr lang="en-US" sz="3200" dirty="0">
              <a:b/>
              <a:solidFill>
                <a:srgbClr val="FFFFFF"/>
              </a:solidFill>
              <a:latin typeface="Segoe UI"/>
            </a:rPr>
            <a:t>IoT-to-Issue Mapping Matrix</a:t>
          </a:r>
          <a:endParaRPr lang="en-US" sz="3200"/>
        </a:p>
      </p:txBody>
    </p:sp>
    <p:sp>
      <p:nvSpPr>
        <p:cNvPr id="31" name="TextBox 31"/>
        <p:cNvSpPr txBox="1"/>
        <p:nvPr/>
      </p:nvSpPr>
      <p:spPr>
        <a:xfrm>
          <a:off x="400000" y="1000000"/>
          <a:ext cx="4200000" cy="5200000"/>
        </a:xfrm>
        <a:prstGeom prst="rect">
          <a:avLst/>
        </a:prstGeom>
        <a:noFill/>
        <a:ln>
          <a:noFill/>
        </a:ln>
      </p:spPr>
      <p:txBody>
        <a:bodyPr wrap="square" rtlCol="0">
          <a:spAutoFit/>
        </a:bodyPr>
        <a:lstStyle/>
        <a:p>
          <a:pPr algn="l"/>
          <a:r>
            <a:rPr lang="en-US" sz="1600" dirty="0">
              <a:solidFill>
                <a:srgbClr val="ECEFF1"/>
              </a:solidFill>
              <a:latin typeface="Segoe UI"/>
            </a:rPr>
            <a:t>AC Not Cooling / HVAC</a:t>
          </a:r>
          <a:endParaRPr lang="en-US" sz="1600"/>
        </a:p>
        <a:p>
          <a:pPr algn="l"/>
          <a:r>
            <a:rPr lang="en-US" sz="1600" dirty="0">
              <a:solidFill>
                <a:srgbClr val="ECEFF1"/>
              </a:solidFill>
              <a:latin typeface="Segoe UI"/>
            </a:rPr>
            <a:t>-&gt; Temp/humidity/CO2 sensors + BMS</a:t>
          </a:r>
          <a:endParaRPr lang="en-US" sz="1600"/>
        </a:p>
        <a:p>
          <a:pPr algn="l"/>
          <a:r>
            <a:rPr lang="en-US" sz="1600" dirty="0">
              <a:solidFill>
                <a:srgbClr val="ECEFF1"/>
              </a:solidFill>
              <a:latin typeface="Segoe UI"/>
            </a:rPr>
            <a:t/>
          </a:r>
          <a:endParaRPr lang="en-US" sz="1600"/>
        </a:p>
        <a:p>
          <a:pPr algn="l"/>
          <a:r>
            <a:rPr lang="en-US" sz="1600" dirty="0">
              <a:solidFill>
                <a:srgbClr val="ECEFF1"/>
              </a:solidFill>
              <a:latin typeface="Segoe UI"/>
            </a:rPr>
            <a:t>Power / Lights / MCB Trip</a:t>
          </a:r>
          <a:endParaRPr lang="en-US" sz="1600"/>
        </a:p>
        <a:p>
          <a:pPr algn="l"/>
          <a:r>
            <a:rPr lang="en-US" sz="1600" dirty="0">
              <a:solidFill>
                <a:srgbClr val="ECEFF1"/>
              </a:solidFill>
              <a:latin typeface="Segoe UI"/>
            </a:rPr>
            <a:t>-&gt; Smart energy meters and branch monitoring</a:t>
          </a:r>
          <a:endParaRPr lang="en-US" sz="1600"/>
        </a:p>
        <a:p>
          <a:pPr algn="l"/>
          <a:r>
            <a:rPr lang="en-US" sz="1600" dirty="0">
              <a:solidFill>
                <a:srgbClr val="ECEFF1"/>
              </a:solidFill>
              <a:latin typeface="Segoe UI"/>
            </a:rPr>
            <a:t/>
          </a:r>
          <a:endParaRPr lang="en-US" sz="1600"/>
        </a:p>
        <a:p>
          <a:pPr algn="l"/>
          <a:r>
            <a:rPr lang="en-US" sz="1600" dirty="0">
              <a:solidFill>
                <a:srgbClr val="ECEFF1"/>
              </a:solidFill>
              <a:latin typeface="Segoe UI"/>
            </a:rPr>
            <a:t>Water Leak / Seepage</a:t>
          </a:r>
          <a:endParaRPr lang="en-US" sz="1600"/>
        </a:p>
        <a:p>
          <a:pPr algn="l"/>
          <a:r>
            <a:rPr lang="en-US" sz="1600" dirty="0">
              <a:solidFill>
                <a:srgbClr val="ECEFF1"/>
              </a:solidFill>
              <a:latin typeface="Segoe UI"/>
            </a:rPr>
            <a:t>-&gt; Leak rope + flow meters at risers</a:t>
          </a:r>
          <a:endParaRPr lang="en-US" sz="1600"/>
        </a:p>
        <a:p>
          <a:pPr algn="l"/>
          <a:r>
            <a:rPr lang="en-US" sz="1600" dirty="0">
              <a:solidFill>
                <a:srgbClr val="ECEFF1"/>
              </a:solidFill>
              <a:latin typeface="Segoe UI"/>
            </a:rPr>
            <a:t/>
          </a:r>
          <a:endParaRPr lang="en-US" sz="1600"/>
        </a:p>
        <a:p>
          <a:pPr algn="l"/>
          <a:r>
            <a:rPr lang="en-US" sz="1600" dirty="0">
              <a:solidFill>
                <a:srgbClr val="ECEFF1"/>
              </a:solidFill>
              <a:latin typeface="Segoe UI"/>
            </a:rPr>
            <a:t>Fire / Extinguisher PPM</a:t>
          </a:r>
          <a:endParaRPr lang="en-US" sz="1600"/>
        </a:p>
        <a:p>
          <a:pPr algn="l"/>
          <a:r>
            <a:rPr lang="en-US" sz="1600" dirty="0">
              <a:solidFill>
                <a:srgbClr val="ECEFF1"/>
              </a:solidFill>
              <a:latin typeface="Segoe UI"/>
            </a:rPr>
            <a:t>-&gt; Connected panels + NFC tags</a:t>
          </a:r>
          <a:endParaRPr lang="en-US" sz="1600"/>
        </a:p>
      </p:txBody>
    </p:sp>
    <p:sp>
      <p:nvSpPr>
        <p:cNvPr id="32" name="TextBox 32"/>
        <p:cNvSpPr txBox="1"/>
        <p:nvPr/>
      </p:nvSpPr>
      <p:spPr>
        <a:xfrm>
          <a:off x="4700000" y="1000000"/>
          <a:ext cx="4200000" cy="5200000"/>
        </a:xfrm>
        <a:prstGeom prst="rect">
          <a:avLst/>
        </a:prstGeom>
        <a:noFill/>
        <a:ln>
          <a:noFill/>
        </a:ln>
      </p:spPr>
      <p:txBody>
        <a:bodyPr wrap="square" rtlCol="0">
          <a:spAutoFit/>
        </a:bodyPr>
        <a:lstStyle/>
        <a:p>
          <a:pPr algn="l"/>
          <a:r>
            <a:rPr lang="en-US" sz="1600" dirty="0">
              <a:solidFill>
                <a:srgbClr val="ECEFF1"/>
              </a:solidFill>
              <a:latin typeface="Segoe UI"/>
            </a:rPr>
            <a:t>UPS / Battery / DG</a:t>
          </a:r>
          <a:endParaRPr lang="en-US" sz="1600"/>
        </a:p>
        <a:p>
          <a:pPr algn="l"/>
          <a:r>
            <a:rPr lang="en-US" sz="1600" dirty="0">
              <a:solidFill>
                <a:srgbClr val="ECEFF1"/>
              </a:solidFill>
              <a:latin typeface="Segoe UI"/>
            </a:rPr>
            <a:t>-&gt; Remote battery and load monitoring</a:t>
          </a:r>
          <a:endParaRPr lang="en-US" sz="1600"/>
        </a:p>
        <a:p>
          <a:pPr algn="l"/>
          <a:r>
            <a:rPr lang="en-US" sz="1600" dirty="0">
              <a:solidFill>
                <a:srgbClr val="ECEFF1"/>
              </a:solidFill>
              <a:latin typeface="Segoe UI"/>
            </a:rPr>
            <a:t/>
          </a:r>
          <a:endParaRPr lang="en-US" sz="1600"/>
        </a:p>
        <a:p>
          <a:pPr algn="l"/>
          <a:r>
            <a:rPr lang="en-US" sz="1600" dirty="0">
              <a:solidFill>
                <a:srgbClr val="ECEFF1"/>
              </a:solidFill>
              <a:latin typeface="Segoe UI"/>
            </a:rPr>
            <a:t>CCTV Offline / DVR</a:t>
          </a:r>
          <a:endParaRPr lang="en-US" sz="1600"/>
        </a:p>
        <a:p>
          <a:pPr algn="l"/>
          <a:r>
            <a:rPr lang="en-US" sz="1600" dirty="0">
              <a:solidFill>
                <a:srgbClr val="ECEFF1"/>
              </a:solidFill>
              <a:latin typeface="Segoe UI"/>
            </a:rPr>
            <a:t>-&gt; Device heartbeat + auto ticket</a:t>
          </a:r>
          <a:endParaRPr lang="en-US" sz="1600"/>
        </a:p>
        <a:p>
          <a:pPr algn="l"/>
          <a:r>
            <a:rPr lang="en-US" sz="1600" dirty="0">
              <a:solidFill>
                <a:srgbClr val="ECEFF1"/>
              </a:solidFill>
              <a:latin typeface="Segoe UI"/>
            </a:rPr>
            <a:t/>
          </a:r>
          <a:endParaRPr lang="en-US" sz="1600"/>
        </a:p>
        <a:p>
          <a:pPr algn="l"/>
          <a:r>
            <a:rPr lang="en-US" sz="1600" dirty="0">
              <a:solidFill>
                <a:srgbClr val="ECEFF1"/>
              </a:solidFill>
              <a:latin typeface="Segoe UI"/>
            </a:rPr>
            <a:t>Lift / Elevator Fault</a:t>
          </a:r>
          <a:endParaRPr lang="en-US" sz="1600"/>
        </a:p>
        <a:p>
          <a:pPr algn="l"/>
          <a:r>
            <a:rPr lang="en-US" sz="1600" dirty="0">
              <a:solidFill>
                <a:srgbClr val="ECEFF1"/>
              </a:solidFill>
              <a:latin typeface="Segoe UI"/>
            </a:rPr>
            <a:t>-&gt; OEM fault API + vibration IoT</a:t>
          </a:r>
          <a:endParaRPr lang="en-US" sz="1600"/>
        </a:p>
        <a:p>
          <a:pPr algn="l"/>
          <a:r>
            <a:rPr lang="en-US" sz="1600" dirty="0">
              <a:solidFill>
                <a:srgbClr val="ECEFF1"/>
              </a:solidFill>
              <a:latin typeface="Segoe UI"/>
            </a:rPr>
            <a:t/>
          </a:r>
          <a:endParaRPr lang="en-US" sz="1600"/>
        </a:p>
        <a:p>
          <a:pPr algn="l"/>
          <a:r>
            <a:rPr lang="en-US" sz="1600" dirty="0">
              <a:solidFill>
                <a:srgbClr val="ECEFF1"/>
              </a:solidFill>
              <a:latin typeface="Segoe UI"/>
            </a:rPr>
            <a:t>Pest / IAQ Complaints</a:t>
          </a:r>
          <a:endParaRPr lang="en-US" sz="1600"/>
        </a:p>
        <a:p>
          <a:pPr algn="l"/>
          <a:r>
            <a:rPr lang="en-US" sz="1600" dirty="0">
              <a:solidFill>
                <a:srgbClr val="ECEFF1"/>
              </a:solidFill>
              <a:latin typeface="Segoe UI"/>
            </a:rPr>
            <a:t>-&gt; Occupancy + air quality sensors</a:t>
          </a:r>
          <a:endParaRPr lang="en-US" sz="1600"/>
        </a:p>
      </p:txBody>
    </p:sp>
  </p:spTree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0B1F3A"/>
      </a:solidFill>
      <a:effectLst/>
    </p:bgPr>
  </p:bg>
  <p:spTree>
    <p:nvGrpSpPr>
      <p:cNvPr id="1" name=""/>
      <p:cNvGrpSpPr/>
      <p:nvPr/>
    </p:nvGrpSpPr>
    <p:grpSpPr>
      <a:xfrm>
        <a:off x="0" y="0"/>
        <a:ext cx="0" cy="0"/>
        <a:chOff x="0" y="0"/>
        <a:chExt cx="0" cy="0"/>
      </a:xfrm>
    </p:grpSpPr>
    <p:sp>
      <p:nvSpPr>
        <p:cNvPr id="33" name="TextBox 33"/>
        <p:cNvSpPr txBox="1"/>
        <p:nvPr/>
      </p:nvSpPr>
      <p:spPr>
        <a:xfrm>
          <a:off x="400000" y="200000"/>
          <a:ext cx="8200000" cy="700000"/>
        </a:xfrm>
        <a:prstGeom prst="rect">
          <a:avLst/>
        </a:prstGeom>
        <a:noFill/>
        <a:ln>
          <a:noFill/>
        </a:ln>
      </p:spPr>
      <p:txBody>
        <a:bodyPr wrap="square" rtlCol="0">
          <a:spAutoFit/>
        </a:bodyPr>
        <a:lstStyle/>
        <a:p>
          <a:pPr algn="l"/>
          <a:r>
            <a:rPr lang="en-US" sz="3200" dirty="0">
              <a:b/>
              <a:solidFill>
                <a:srgbClr val="4FC3F7"/>
              </a:solidFill>
              <a:latin typeface="Segoe UI"/>
            </a:rPr>
            <a:t>Proposed IoT Architecture for TechXpert ERP</a:t>
          </a:r>
          <a:endParaRPr lang="en-US" sz="3200"/>
        </a:p>
      </p:txBody>
    </p:sp>
    <p:sp>
      <p:nvSpPr>
        <p:cNvPr id="34" name="TextBox 34"/>
        <p:cNvSpPr txBox="1"/>
        <p:nvPr/>
      </p:nvSpPr>
      <p:spPr>
        <a:xfrm>
          <a:off x="500000" y="1000000"/>
          <a:ext cx="8100000" cy="5400000"/>
        </a:xfrm>
        <a:prstGeom prst="rect">
          <a:avLst/>
        </a:prstGeom>
        <a:noFill/>
        <a:ln>
          <a:noFill/>
        </a:ln>
      </p:spPr>
      <p:txBody>
        <a:bodyPr wrap="square" rtlCol="0">
          <a:spAutoFit/>
        </a:bodyPr>
        <a:lstStyle/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Layer 1 - Edge: Sensors (LoRaWAN / Wi-Fi / Modbus / BACnet gateways)</a:t>
          </a:r>
          <a:endParaRPr lang="en-US" sz="1700"/>
        </a:p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Layer 2 - IoT Hub: AWS IoT Core / Azure IoT Hub / on-prem MQTT broker</a:t>
          </a:r>
          <a:endParaRPr lang="en-US" sz="1700"/>
        </a:p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Layer 3 - Rules Engine: Threshold alerts, anomaly detection, SLA routing</a:t>
          </a:r>
          <a:endParaRPr lang="en-US" sz="1700"/>
        </a:p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Layer 4 - TechXpert ERP: Auto-create corporate_tickets with Service/Subservice</a:t>
          </a:r>
          <a:endParaRPr lang="en-US" sz="1700"/>
        </a:p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Layer 5 - Dashboard: Branch asset map, live telemetry, PPM compliance KPIs</a:t>
          </a:r>
          <a:endParaRPr lang="en-US" sz="1700"/>
        </a:p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Security: TLS, device certificates, role-based access per CorporateID/BranchID</a:t>
          </a:r>
          <a:endParaRPr lang="en-US" sz="1700"/>
        </a:p>
      </p:txBody>
    </p:sp>
  </p:spTree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0B1F3A"/>
      </a:solidFill>
      <a:effectLst/>
    </p:bgPr>
  </p:bg>
  <p:spTree>
    <p:nvGrpSpPr>
      <p:cNvPr id="1" name=""/>
      <p:cNvGrpSpPr/>
      <p:nvPr/>
    </p:nvGrpSpPr>
    <p:grpSpPr>
      <a:xfrm>
        <a:off x="0" y="0"/>
        <a:ext cx="0" cy="0"/>
        <a:chOff x="0" y="0"/>
        <a:chExt cx="0" cy="0"/>
      </a:xfrm>
    </p:grpSpPr>
    <p:sp>
      <p:nvSpPr>
        <p:cNvPr id="35" name="TextBox 35"/>
        <p:cNvSpPr txBox="1"/>
        <p:nvPr/>
      </p:nvSpPr>
      <p:spPr>
        <a:xfrm>
          <a:off x="400000" y="200000"/>
          <a:ext cx="8200000" cy="700000"/>
        </a:xfrm>
        <a:prstGeom prst="rect">
          <a:avLst/>
        </a:prstGeom>
        <a:noFill/>
        <a:ln>
          <a:noFill/>
        </a:ln>
      </p:spPr>
      <p:txBody>
        <a:bodyPr wrap="square" rtlCol="0">
          <a:spAutoFit/>
        </a:bodyPr>
        <a:lstStyle/>
        <a:p>
          <a:pPr algn="l"/>
          <a:r>
            <a:rPr lang="en-US" sz="3200" dirty="0">
              <a:b/>
              <a:solidFill>
                <a:srgbClr val="4FC3F7"/>
              </a:solidFill>
              <a:latin typeface="Segoe UI"/>
            </a:rPr>
            <a:t>Phase 1 Pilot - 90 Days (Recommended)</a:t>
          </a:r>
          <a:endParaRPr lang="en-US" sz="3200"/>
        </a:p>
      </p:txBody>
    </p:sp>
    <p:sp>
      <p:nvSpPr>
        <p:cNvPr id="36" name="TextBox 36"/>
        <p:cNvSpPr txBox="1"/>
        <p:nvPr/>
      </p:nvSpPr>
      <p:spPr>
        <a:xfrm>
          <a:off x="500000" y="1000000"/>
          <a:ext cx="8100000" cy="5400000"/>
        </a:xfrm>
        <a:prstGeom prst="rect">
          <a:avLst/>
        </a:prstGeom>
        <a:noFill/>
        <a:ln>
          <a:noFill/>
        </a:ln>
      </p:spPr>
      <p:txBody>
        <a:bodyPr wrap="square" rtlCol="0">
          <a:spAutoFit/>
        </a:bodyPr>
        <a:lstStyle/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Week 1-2: Select 1 banking + 1 IT client site (highest ticket density)</a:t>
          </a:r>
          <a:endParaRPr lang="en-US" sz="1700"/>
        </a:p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Week 3-4: Deploy HVAC + electrical monitoring on top 20 assets per site</a:t>
          </a:r>
          <a:endParaRPr lang="en-US" sz="1700"/>
        </a:p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Week 5-8: Integrate MQTT to PHP webhook to auto ticket creation in ERP</a:t>
          </a:r>
          <a:endParaRPr lang="en-US" sz="1700"/>
        </a:p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Week 9-10: Train FM team; define alert-to-SLA rules and escalation matrix</a:t>
          </a:r>
          <a:endParaRPr lang="en-US" sz="1700"/>
        </a:p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Week 11-12: Measure KPIs - MTTR, repeat tickets, proactive vs reactive ratio</a:t>
          </a:r>
          <a:endParaRPr lang="en-US" sz="1700"/>
        </a:p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Success criteria: 25% reduction in critical HVAC/electrical tickets at pilot sites</a:t>
          </a:r>
          <a:endParaRPr lang="en-US" sz="1700"/>
        </a:p>
      </p:txBody>
    </p:sp>
  </p:spTree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0B1F3A"/>
      </a:solidFill>
      <a:effectLst/>
    </p:bgPr>
  </p:bg>
  <p:spTree>
    <p:nvGrpSpPr>
      <p:cNvPr id="1" name=""/>
      <p:cNvGrpSpPr/>
      <p:nvPr/>
    </p:nvGrpSpPr>
    <p:grpSpPr>
      <a:xfrm>
        <a:off x="0" y="0"/>
        <a:ext cx="0" cy="0"/>
        <a:chOff x="0" y="0"/>
        <a:chExt cx="0" cy="0"/>
      </a:xfrm>
    </p:grpSpPr>
    <p:sp>
      <p:nvSpPr>
        <p:cNvPr id="37" name="TextBox 37"/>
        <p:cNvSpPr txBox="1"/>
        <p:nvPr/>
      </p:nvSpPr>
      <p:spPr>
        <a:xfrm>
          <a:off x="400000" y="200000"/>
          <a:ext cx="8200000" cy="700000"/>
        </a:xfrm>
        <a:prstGeom prst="rect">
          <a:avLst/>
        </a:prstGeom>
        <a:noFill/>
        <a:ln>
          <a:noFill/>
        </a:ln>
      </p:spPr>
      <p:txBody>
        <a:bodyPr wrap="square" rtlCol="0">
          <a:spAutoFit/>
        </a:bodyPr>
        <a:lstStyle/>
        <a:p>
          <a:pPr algn="l"/>
          <a:r>
            <a:rPr lang="en-US" sz="3200" dirty="0">
              <a:b/>
              <a:solidFill>
                <a:srgbClr val="4FC3F7"/>
              </a:solidFill>
              <a:latin typeface="Segoe UI"/>
            </a:rPr>
            <a:t>Business Impact and ROI Indicators</a:t>
          </a:r>
          <a:endParaRPr lang="en-US" sz="3200"/>
        </a:p>
      </p:txBody>
    </p:sp>
    <p:sp>
      <p:nvSpPr>
        <p:cNvPr id="38" name="TextBox 38"/>
        <p:cNvSpPr txBox="1"/>
        <p:nvPr/>
      </p:nvSpPr>
      <p:spPr>
        <a:xfrm>
          <a:off x="500000" y="1000000"/>
          <a:ext cx="8100000" cy="5400000"/>
        </a:xfrm>
        <a:prstGeom prst="rect">
          <a:avLst/>
        </a:prstGeom>
        <a:noFill/>
        <a:ln>
          <a:noFill/>
        </a:ln>
      </p:spPr>
      <p:txBody>
        <a:bodyPr wrap="square" rtlCol="0">
          <a:spAutoFit/>
        </a:bodyPr>
        <a:lstStyle/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Reduce repeat breakdown tickets through predictive maintenance scheduling</a:t>
          </a:r>
          <a:endParaRPr lang="en-US" sz="1700"/>
        </a:p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Lower client SLA breaches - especially Banking and IT segments</a:t>
          </a:r>
          <a:endParaRPr lang="en-US" sz="1700"/>
        </a:p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Technician dispatch optimization using sensor location and severity data</a:t>
          </a:r>
          <a:endParaRPr lang="en-US" sz="1700"/>
        </a:p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New revenue: IoT-enabled FM contract upsell for CBRE/JLL/EFS-style accounts</a:t>
          </a:r>
          <a:endParaRPr lang="en-US" sz="1700"/>
        </a:p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Data asset: Historical telemetry improves quotation accuracy</a:t>
          </a:r>
          <a:endParaRPr lang="en-US" sz="1700"/>
        </a:p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Competitive differentiation vs traditional break-fix FM vendors</a:t>
          </a:r>
          <a:endParaRPr lang="en-US" sz="1700"/>
        </a:p>
      </p:txBody>
    </p:sp>
  </p:spTree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0B1F3A"/>
      </a:solidFill>
      <a:effectLst/>
    </p:bgPr>
  </p:bg>
  <p:spTree>
    <p:nvGrpSpPr>
      <p:cNvPr id="1" name=""/>
      <p:cNvGrpSpPr/>
      <p:nvPr/>
    </p:nvGrpSpPr>
    <p:grpSpPr>
      <a:xfrm>
        <a:off x="0" y="0"/>
        <a:ext cx="0" cy="0"/>
        <a:chOff x="0" y="0"/>
        <a:chExt cx="0" cy="0"/>
      </a:xfrm>
    </p:grpSpPr>
    <p:sp>
      <p:nvSpPr>
        <p:cNvPr id="39" name="TextBox 39"/>
        <p:cNvSpPr txBox="1"/>
        <p:nvPr/>
      </p:nvSpPr>
      <p:spPr>
        <a:xfrm>
          <a:off x="400000" y="200000"/>
          <a:ext cx="8200000" cy="700000"/>
        </a:xfrm>
        <a:prstGeom prst="rect">
          <a:avLst/>
        </a:prstGeom>
        <a:noFill/>
        <a:ln>
          <a:noFill/>
        </a:ln>
      </p:spPr>
      <p:txBody>
        <a:bodyPr wrap="square" rtlCol="0">
          <a:spAutoFit/>
        </a:bodyPr>
        <a:lstStyle/>
        <a:p>
          <a:pPr algn="l"/>
          <a:r>
            <a:rPr lang="en-US" sz="3200" dirty="0">
              <a:b/>
              <a:solidFill>
                <a:srgbClr val="4FC3F7"/>
              </a:solidFill>
              <a:latin typeface="Segoe UI"/>
            </a:rPr>
            <a:t>Action Items for Tech Team</a:t>
          </a:r>
          <a:endParaRPr lang="en-US" sz="3200"/>
        </a:p>
      </p:txBody>
    </p:sp>
    <p:sp>
      <p:nvSpPr>
        <p:cNvPr id="40" name="TextBox 40"/>
        <p:cNvSpPr txBox="1"/>
        <p:nvPr/>
      </p:nvSpPr>
      <p:spPr>
        <a:xfrm>
          <a:off x="500000" y="1000000"/>
          <a:ext cx="8100000" cy="5400000"/>
        </a:xfrm>
        <a:prstGeom prst="rect">
          <a:avLst/>
        </a:prstGeom>
        <a:noFill/>
        <a:ln>
          <a:noFill/>
        </a:ln>
      </p:spPr>
      <p:txBody>
        <a:bodyPr wrap="square" rtlCol="0">
          <a:spAutoFit/>
        </a:bodyPr>
        <a:lstStyle/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1. Approve IoT pilot: Electrical + HVAC monitoring at JLL/DMI Finance pilot sites</a:t>
          </a:r>
          <a:endParaRPr lang="en-US" sz="1700"/>
        </a:p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2. Define ERP webhook for sensor-triggered auto ticket in corporate_tickets</a:t>
          </a:r>
          <a:endParaRPr lang="en-US" sz="1700"/>
        </a:p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3. Extend BranchAssetID registry with IoT device ID and telemetry endpoint</a:t>
          </a:r>
          <a:endParaRPr lang="en-US" sz="1700"/>
        </a:p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4. Build FM IoT dashboard (branch map + live alerts + ticket deep-link)</a:t>
          </a:r>
          <a:endParaRPr lang="en-US" sz="1700"/>
        </a:p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5. Evaluate partners: Schneider/Siemens BMS, LoRaWAN gateways, smart energy meters</a:t>
          </a:r>
          <a:endParaRPr lang="en-US" sz="1700"/>
        </a:p>
        <a:p>
          <a:pPr algn="l"/>
          <a:r>
            <a:rPr lang="en-US" sz="1700" dirty="0">
              <a:solidFill>
                <a:srgbClr val="FFFFFF"/>
              </a:solidFill>
              <a:latin typeface="Segoe UI"/>
            </a:rPr>
            <a:t>6. Phase 2: Plumbing leak sensors + UPS monitoring for banking SLA clients</a:t>
          </a:r>
          <a:endParaRPr lang="en-US" sz="1700"/>
        </a:p>
      </p:txBody>
    </p:sp>
  </p:spTree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0B1F3A"/>
      </a:solidFill>
      <a:effectLst/>
    </p:bgPr>
  </p:bg>
  <p:spTree>
    <p:nvGrpSpPr>
      <p:cNvPr id="1" name=""/>
      <p:cNvGrpSpPr/>
      <p:nvPr/>
    </p:nvGrpSpPr>
    <p:grpSpPr>
      <a:xfrm>
        <a:off x="0" y="0"/>
        <a:ext cx="0" cy="0"/>
        <a:chOff x="0" y="0"/>
        <a:chExt cx="0" cy="0"/>
      </a:xfrm>
    </p:grpSpPr>
    <p:sp>
      <p:nvSpPr>
        <p:cNvPr id="98" name="Bar"/>
        <p:cNvSpPr/>
        <p:nvPr/>
      </p:nvSpPr>
      <p:spPr>
        <a:xfrm>
          <a:off x="600000" y="1600000"/>
          <a:ext cx="7800000" cy="80000"/>
        </a:xfrm>
        <a:prstGeom prst="rect">
          <a:avLst/>
        </a:prstGeom>
        <a:solidFill>
          <a:srgbClr val="00897B"/>
        </a:solidFill>
        <a:ln>
          <a:noFill/>
        </a:ln>
      </p:spPr>
      <p:txBody>
        <a:bodyPr/>
        <a:lstStyle/>
        <a:p>
          <a:endParaRPr lang="en-US"/>
        </a:p>
      </p:txBody>
    </p:sp>
    <p:sp>
      <p:nvSpPr>
        <p:cNvPr id="41" name="TextBox 41"/>
        <p:cNvSpPr txBox="1"/>
        <p:nvPr/>
      </p:nvSpPr>
      <p:spPr>
        <a:xfrm>
          <a:off x="600000" y="1800000"/>
          <a:ext cx="7800000" cy="1200000"/>
        </a:xfrm>
        <a:prstGeom prst="rect">
          <a:avLst/>
        </a:prstGeom>
        <a:noFill/>
        <a:ln>
          <a:noFill/>
        </a:ln>
      </p:spPr>
      <p:txBody>
        <a:bodyPr wrap="square" rtlCol="0">
          <a:spAutoFit/>
        </a:bodyPr>
        <a:lstStyle/>
        <a:p>
          <a:pPr algn="ctr"/>
          <a:r>
            <a:rPr lang="en-US" sz="4400" dirty="0">
              <a:b/>
              <a:solidFill>
                <a:srgbClr val="FFFFFF"/>
              </a:solidFill>
              <a:latin typeface="Segoe UI"/>
            </a:rPr>
            <a:t>Thank You</a:t>
          </a:r>
          <a:endParaRPr lang="en-US" sz="4400"/>
        </a:p>
      </p:txBody>
    </p:sp>
    <p:sp>
      <p:nvSpPr>
        <p:cNvPr id="42" name="TextBox 42"/>
        <p:cNvSpPr txBox="1"/>
        <p:nvPr/>
      </p:nvSpPr>
      <p:spPr>
        <a:xfrm>
          <a:off x="900000" y="3000000"/>
          <a:ext cx="7200000" cy="800000"/>
        </a:xfrm>
        <a:prstGeom prst="rect">
          <a:avLst/>
        </a:prstGeom>
        <a:noFill/>
        <a:ln>
          <a:noFill/>
        </a:ln>
      </p:spPr>
      <p:txBody>
        <a:bodyPr wrap="square" rtlCol="0">
          <a:spAutoFit/>
        </a:bodyPr>
        <a:lstStyle/>
        <a:p>
          <a:pPr algn="ctr"/>
          <a:r>
            <a:rPr lang="en-US" sz="2400" dirty="0">
              <a:solidFill>
                <a:srgbClr val="4FC3F7"/>
              </a:solidFill>
              <a:latin typeface="Segoe UI"/>
            </a:rPr>
            <a:t>Questions and Discussion</a:t>
          </a:r>
          <a:endParaRPr lang="en-US" sz="2400"/>
        </a:p>
      </p:txBody>
    </p:sp>
    <p:sp>
      <p:nvSpPr>
        <p:cNvPr id="43" name="TextBox 43"/>
        <p:cNvSpPr txBox="1"/>
        <p:nvPr/>
      </p:nvSpPr>
      <p:spPr>
        <a:xfrm>
          <a:off x="600000" y="4200000"/>
          <a:ext cx="7800000" cy="900000"/>
        </a:xfrm>
        <a:prstGeom prst="rect">
          <a:avLst/>
        </a:prstGeom>
        <a:noFill/>
        <a:ln>
          <a:noFill/>
        </a:ln>
      </p:spPr>
      <p:txBody>
        <a:bodyPr wrap="square" rtlCol="0">
          <a:spAutoFit/>
        </a:bodyPr>
        <a:lstStyle/>
        <a:p>
          <a:pPr algn="ctr"/>
          <a:r>
            <a:rPr lang="en-US" sz="1600" dirty="0">
              <a:solidFill>
                <a:srgbClr val="B0BEC5"/>
              </a:solidFill>
              <a:latin typeface="Segoe UI"/>
            </a:rPr>
            <a:t>TechXpert Facilities India Pvt. Ltd.</a:t>
          </a:r>
          <a:endParaRPr lang="en-US" sz="1600"/>
        </a:p>
        <a:p>
          <a:pPr algn="ctr"/>
          <a:r>
            <a:rPr lang="en-US" sz="1600" dirty="0">
              <a:solidFill>
                <a:srgbClr val="B0BEC5"/>
              </a:solidFill>
              <a:latin typeface="Segoe UI"/>
            </a:rPr>
            <a:t>IoT Initiative - Facilities Management Portal</a:t>
          </a:r>
          <a:endParaRPr lang="en-US" sz="1600"/>
        </a:p>
      </p:txBody>
    </p:sp>
  </p:spTree>
</p:sld>
</file>

<file path=ppt/theme/theme1.xml><?xml version="1.0" encoding="utf-8"?>
<a:theme xmlns:a="http://schemas.openxmlformats.org/drawingml/2006/main" name="TechXpert Theme">
  <a:themeElements>
    <a:clrScheme name="TechXpert">
      <a:dk1>
        <a:sysClr val="windowText" lastClr="000000"/>
      </a:dk1>
      <a:lt1>
        <a:sysClr val="window" lastClr="FFFFFF"/>
      </a:lt1>
      <a:accent1>
        <a:srgbClr val="00897B"/>
      </a:accent1>
    </a:clrScheme>
    <a:fontScheme name="Segoe">
      <a:majorFont>
        <a:latin typeface="Segoe UI"/>
      </a:majorFont>
      <a:minorFont>
        <a:latin typeface="Segoe UI"/>
      </a:minorFont>
    </a:fontScheme>
    <a:fmtScheme name="Office">
      <a:fillStyleLst>
        <a:solidFill>
          <a:schemeClr val="phClr"/>
        </a:solidFill>
      </a:fillStyleLst>
    </a:fmtScheme>
  </a:themeElements>
</a:theme>
</file>

<file path=docProps/app.xml><?xml version="1.0" encoding="utf-8"?>
<Properties xmlns="http://schemas.openxmlformats.org/officeDocument/2006/extended-properties">
  <Application>TechXpert IoT Generator</Application>
  <Slides>19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TechXpert IoT FM Initiative</dc:title>
  <dc:creator>TechXpert Facilities India</dc:creator>
  <dcterms:created xsi:type="dcterms:W3CDTF">2026-06-07T07:32:53Z</dcterms:created>
</cp:coreProperties>
</file>